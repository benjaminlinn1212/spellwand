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5"/>
  </p:sldIdLst>
  <p:sldSz cx="8183880" cy="44805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5" Type="http://schemas.openxmlformats.org/officeDocument/2006/relationships/slide" Target="slides/slide9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6" name="Figure 4 circuit"/>
          <p:cNvGrpSpPr/>
          <p:nvPr/>
        </p:nvGrpSpPr>
        <p:grpSpPr>
          <a:xfrm>
            <a:off x="274320" y="274320"/>
            <a:ext cx="7635240" cy="3931920"/>
            <a:chOff x="640080" y="1691640"/>
            <a:chExt cx="7635240" cy="3931920"/>
          </a:xfrm>
        </p:grpSpPr>
        <p:sp>
          <p:nvSpPr>
            <p:cNvPr id="7" name="Rounded Rectangle 6"/>
            <p:cNvSpPr/>
            <p:nvPr/>
          </p:nvSpPr>
          <p:spPr>
            <a:xfrm>
              <a:off x="2514600" y="1691640"/>
              <a:ext cx="2194560" cy="3931920"/>
            </a:xfrm>
            <a:prstGeom prst="roundRect">
              <a:avLst>
                <a:gd name="adj" fmla="val 6000"/>
              </a:avLst>
            </a:prstGeom>
            <a:solidFill>
              <a:srgbClr val="1C1840"/>
            </a:solidFill>
            <a:ln w="15875">
              <a:solidFill>
                <a:srgbClr val="F2C14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514600" y="1783080"/>
              <a:ext cx="2194560" cy="3200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800" b="1" i="0">
                  <a:solidFill>
                    <a:srgbClr val="F4F1EA"/>
                  </a:solidFill>
                  <a:latin typeface="Calibri"/>
                </a:rPr>
                <a:t>ESP32-WROOM-32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227832" y="2194560"/>
              <a:ext cx="137160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r"/>
              <a:r>
                <a:rPr sz="1600" b="0" i="0">
                  <a:solidFill>
                    <a:srgbClr val="F4F1EA"/>
                  </a:solidFill>
                  <a:latin typeface="Calibri"/>
                </a:rPr>
                <a:t>GPIO21 (SDA)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227832" y="2560320"/>
              <a:ext cx="137160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r"/>
              <a:r>
                <a:rPr sz="1600" b="0" i="0">
                  <a:solidFill>
                    <a:srgbClr val="F4F1EA"/>
                  </a:solidFill>
                  <a:latin typeface="Calibri"/>
                </a:rPr>
                <a:t>GPIO22 (SCL)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27832" y="2926080"/>
              <a:ext cx="137160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r"/>
              <a:r>
                <a:rPr sz="1600" b="0" i="0">
                  <a:solidFill>
                    <a:srgbClr val="F4F1EA"/>
                  </a:solidFill>
                  <a:latin typeface="Calibri"/>
                </a:rPr>
                <a:t>3V3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27832" y="3749039"/>
              <a:ext cx="137160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r"/>
              <a:r>
                <a:rPr sz="1600" b="0" i="0">
                  <a:solidFill>
                    <a:srgbClr val="F4F1EA"/>
                  </a:solidFill>
                  <a:latin typeface="Calibri"/>
                </a:rPr>
                <a:t>GPIO18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27832" y="4206240"/>
              <a:ext cx="137160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r"/>
              <a:r>
                <a:rPr sz="1600" b="0" i="0">
                  <a:solidFill>
                    <a:srgbClr val="F4F1EA"/>
                  </a:solidFill>
                  <a:latin typeface="Calibri"/>
                </a:rPr>
                <a:t>GPIO19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227832" y="4663440"/>
              <a:ext cx="137160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r"/>
              <a:r>
                <a:rPr sz="1600" b="0" i="0">
                  <a:solidFill>
                    <a:srgbClr val="F4F1EA"/>
                  </a:solidFill>
                  <a:latin typeface="Calibri"/>
                </a:rPr>
                <a:t>GPIO23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27832" y="5212079"/>
              <a:ext cx="137160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r"/>
              <a:r>
                <a:rPr sz="1600" b="0" i="0">
                  <a:solidFill>
                    <a:srgbClr val="F4F1EA"/>
                  </a:solidFill>
                  <a:latin typeface="Calibri"/>
                </a:rPr>
                <a:t>GPIO27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624328" y="2926080"/>
              <a:ext cx="100584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600" b="0" i="0">
                  <a:solidFill>
                    <a:srgbClr val="F4F1EA"/>
                  </a:solidFill>
                  <a:latin typeface="Calibri"/>
                </a:rPr>
                <a:t>5V / VIN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624328" y="4892040"/>
              <a:ext cx="100584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600" b="0" i="0">
                  <a:solidFill>
                    <a:srgbClr val="F4F1EA"/>
                  </a:solidFill>
                  <a:latin typeface="Calibri"/>
                </a:rPr>
                <a:t>GND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400800" y="1691640"/>
              <a:ext cx="1737360" cy="1947672"/>
            </a:xfrm>
            <a:prstGeom prst="roundRect">
              <a:avLst>
                <a:gd name="adj" fmla="val 8000"/>
              </a:avLst>
            </a:prstGeom>
            <a:solidFill>
              <a:srgbClr val="1C1840"/>
            </a:solidFill>
            <a:ln w="15875">
              <a:solidFill>
                <a:srgbClr val="F2C14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400800" y="1783080"/>
              <a:ext cx="1737360" cy="3200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800" b="1" i="0">
                  <a:solidFill>
                    <a:srgbClr val="F4F1EA"/>
                  </a:solidFill>
                  <a:latin typeface="Calibri"/>
                </a:rPr>
                <a:t>MPU-9250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28816" y="2194560"/>
              <a:ext cx="91440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600" b="0" i="0">
                  <a:solidFill>
                    <a:srgbClr val="F4F1EA"/>
                  </a:solidFill>
                  <a:latin typeface="Calibri"/>
                </a:rPr>
                <a:t>SDA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528816" y="2560320"/>
              <a:ext cx="91440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600" b="0" i="0">
                  <a:solidFill>
                    <a:srgbClr val="F4F1EA"/>
                  </a:solidFill>
                  <a:latin typeface="Calibri"/>
                </a:rPr>
                <a:t>SCL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528816" y="2926080"/>
              <a:ext cx="91440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600" b="0" i="0">
                  <a:solidFill>
                    <a:srgbClr val="F4F1EA"/>
                  </a:solidFill>
                  <a:latin typeface="Calibri"/>
                </a:rPr>
                <a:t>VCC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528816" y="3264408"/>
              <a:ext cx="91440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600" b="0" i="0">
                  <a:solidFill>
                    <a:srgbClr val="F4F1EA"/>
                  </a:solidFill>
                  <a:latin typeface="Calibri"/>
                </a:rPr>
                <a:t>GND</a:t>
              </a:r>
            </a:p>
          </p:txBody>
        </p:sp>
        <p:cxnSp>
          <p:nvCxnSpPr>
            <p:cNvPr id="24" name="Connector 23"/>
            <p:cNvCxnSpPr/>
            <p:nvPr/>
          </p:nvCxnSpPr>
          <p:spPr>
            <a:xfrm>
              <a:off x="4709160" y="2331720"/>
              <a:ext cx="1691640" cy="0"/>
            </a:xfrm>
            <a:prstGeom prst="line">
              <a:avLst/>
            </a:prstGeom>
            <a:ln w="22225">
              <a:solidFill>
                <a:srgbClr val="B9B3D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4709160" y="2697480"/>
              <a:ext cx="1691640" cy="0"/>
            </a:xfrm>
            <a:prstGeom prst="line">
              <a:avLst/>
            </a:prstGeom>
            <a:ln w="22225">
              <a:solidFill>
                <a:srgbClr val="B9B3D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4709160" y="3063240"/>
              <a:ext cx="1691640" cy="0"/>
            </a:xfrm>
            <a:prstGeom prst="line">
              <a:avLst/>
            </a:prstGeom>
            <a:ln w="22225">
              <a:solidFill>
                <a:srgbClr val="FF8A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4709160" y="1947672"/>
              <a:ext cx="1691639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600" b="0" i="0">
                  <a:solidFill>
                    <a:srgbClr val="B9B3D1"/>
                  </a:solidFill>
                  <a:latin typeface="Calibri"/>
                </a:rPr>
                <a:t>I²C bus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709160" y="2743200"/>
              <a:ext cx="1691639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600" b="0" i="0">
                  <a:solidFill>
                    <a:srgbClr val="FF8A70"/>
                  </a:solidFill>
                  <a:latin typeface="Calibri"/>
                </a:rPr>
                <a:t>3.3 V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 flipH="1">
              <a:off x="6172200" y="3401568"/>
              <a:ext cx="228600" cy="0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6172200" y="3401568"/>
              <a:ext cx="0" cy="128016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6035040" y="3529584"/>
              <a:ext cx="274320" cy="0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6080760" y="3584448"/>
              <a:ext cx="182880" cy="0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6126480" y="3639312"/>
              <a:ext cx="91440" cy="0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33"/>
            <p:cNvCxnSpPr/>
            <p:nvPr/>
          </p:nvCxnSpPr>
          <p:spPr>
            <a:xfrm>
              <a:off x="4709160" y="3886200"/>
              <a:ext cx="320040" cy="0"/>
            </a:xfrm>
            <a:prstGeom prst="line">
              <a:avLst/>
            </a:prstGeom>
            <a:ln w="22225">
              <a:solidFill>
                <a:srgbClr val="B9B3D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Freeform 34"/>
            <p:cNvSpPr/>
            <p:nvPr/>
          </p:nvSpPr>
          <p:spPr>
            <a:xfrm>
              <a:off x="5029200" y="3803904"/>
              <a:ext cx="640080" cy="164592"/>
            </a:xfrm>
            <a:custGeom>
              <a:avLst/>
              <a:gdLst/>
              <a:ahLst/>
              <a:cxnLst/>
              <a:rect l="l" t="t" r="r" b="b"/>
              <a:pathLst>
                <a:path w="640080" h="164592">
                  <a:moveTo>
                    <a:pt x="0" y="82296"/>
                  </a:moveTo>
                  <a:lnTo>
                    <a:pt x="45720" y="164592"/>
                  </a:lnTo>
                  <a:lnTo>
                    <a:pt x="137159" y="0"/>
                  </a:lnTo>
                  <a:lnTo>
                    <a:pt x="228600" y="164592"/>
                  </a:lnTo>
                  <a:lnTo>
                    <a:pt x="320040" y="0"/>
                  </a:lnTo>
                  <a:lnTo>
                    <a:pt x="411480" y="164592"/>
                  </a:lnTo>
                  <a:lnTo>
                    <a:pt x="502920" y="0"/>
                  </a:lnTo>
                  <a:lnTo>
                    <a:pt x="594360" y="82296"/>
                  </a:lnTo>
                  <a:lnTo>
                    <a:pt x="640080" y="82296"/>
                  </a:lnTo>
                </a:path>
              </a:pathLst>
            </a:custGeom>
            <a:noFill/>
            <a:ln w="22225">
              <a:solidFill>
                <a:srgbClr val="B9B3D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983480" y="3520440"/>
              <a:ext cx="73152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600" b="0" i="0">
                  <a:solidFill>
                    <a:srgbClr val="B9B3D1"/>
                  </a:solidFill>
                  <a:latin typeface="Calibri"/>
                </a:rPr>
                <a:t>220 Ω</a:t>
              </a:r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5669280" y="3886200"/>
              <a:ext cx="365760" cy="0"/>
            </a:xfrm>
            <a:prstGeom prst="line">
              <a:avLst/>
            </a:prstGeom>
            <a:ln w="22225">
              <a:solidFill>
                <a:srgbClr val="B9B3D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Freeform 37"/>
            <p:cNvSpPr/>
            <p:nvPr/>
          </p:nvSpPr>
          <p:spPr>
            <a:xfrm>
              <a:off x="6035040" y="3767328"/>
              <a:ext cx="237744" cy="237744"/>
            </a:xfrm>
            <a:custGeom>
              <a:avLst/>
              <a:gdLst/>
              <a:ahLst/>
              <a:cxnLst/>
              <a:rect l="l" t="t" r="r" b="b"/>
              <a:pathLst>
                <a:path w="237744" h="237744">
                  <a:moveTo>
                    <a:pt x="0" y="0"/>
                  </a:moveTo>
                  <a:lnTo>
                    <a:pt x="0" y="237744"/>
                  </a:lnTo>
                  <a:lnTo>
                    <a:pt x="237744" y="118872"/>
                  </a:lnTo>
                  <a:close/>
                </a:path>
              </a:pathLst>
            </a:custGeom>
            <a:solidFill>
              <a:srgbClr val="FF4D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9" name="Connector 38"/>
            <p:cNvCxnSpPr/>
            <p:nvPr/>
          </p:nvCxnSpPr>
          <p:spPr>
            <a:xfrm>
              <a:off x="6272784" y="3767328"/>
              <a:ext cx="0" cy="237744"/>
            </a:xfrm>
            <a:prstGeom prst="line">
              <a:avLst/>
            </a:prstGeom>
            <a:ln w="25400">
              <a:solidFill>
                <a:srgbClr val="B9B3D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>
              <a:off x="6272784" y="3886200"/>
              <a:ext cx="402336" cy="0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>
              <a:off x="4709160" y="4343400"/>
              <a:ext cx="320040" cy="0"/>
            </a:xfrm>
            <a:prstGeom prst="line">
              <a:avLst/>
            </a:prstGeom>
            <a:ln w="22225">
              <a:solidFill>
                <a:srgbClr val="B9B3D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Freeform 41"/>
            <p:cNvSpPr/>
            <p:nvPr/>
          </p:nvSpPr>
          <p:spPr>
            <a:xfrm>
              <a:off x="5029200" y="4261104"/>
              <a:ext cx="640080" cy="164592"/>
            </a:xfrm>
            <a:custGeom>
              <a:avLst/>
              <a:gdLst/>
              <a:ahLst/>
              <a:cxnLst/>
              <a:rect l="l" t="t" r="r" b="b"/>
              <a:pathLst>
                <a:path w="640080" h="164592">
                  <a:moveTo>
                    <a:pt x="0" y="82296"/>
                  </a:moveTo>
                  <a:lnTo>
                    <a:pt x="45720" y="164592"/>
                  </a:lnTo>
                  <a:lnTo>
                    <a:pt x="137159" y="0"/>
                  </a:lnTo>
                  <a:lnTo>
                    <a:pt x="228600" y="164592"/>
                  </a:lnTo>
                  <a:lnTo>
                    <a:pt x="320040" y="0"/>
                  </a:lnTo>
                  <a:lnTo>
                    <a:pt x="411480" y="164592"/>
                  </a:lnTo>
                  <a:lnTo>
                    <a:pt x="502920" y="0"/>
                  </a:lnTo>
                  <a:lnTo>
                    <a:pt x="594360" y="82296"/>
                  </a:lnTo>
                  <a:lnTo>
                    <a:pt x="640080" y="82296"/>
                  </a:lnTo>
                </a:path>
              </a:pathLst>
            </a:custGeom>
            <a:noFill/>
            <a:ln w="22225">
              <a:solidFill>
                <a:srgbClr val="B9B3D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983480" y="3977639"/>
              <a:ext cx="73152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600" b="0" i="0">
                  <a:solidFill>
                    <a:srgbClr val="B9B3D1"/>
                  </a:solidFill>
                  <a:latin typeface="Calibri"/>
                </a:rPr>
                <a:t>100 Ω</a:t>
              </a:r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5669280" y="4343400"/>
              <a:ext cx="365760" cy="0"/>
            </a:xfrm>
            <a:prstGeom prst="line">
              <a:avLst/>
            </a:prstGeom>
            <a:ln w="22225">
              <a:solidFill>
                <a:srgbClr val="B9B3D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reeform 44"/>
            <p:cNvSpPr/>
            <p:nvPr/>
          </p:nvSpPr>
          <p:spPr>
            <a:xfrm>
              <a:off x="6035040" y="4224528"/>
              <a:ext cx="237744" cy="237744"/>
            </a:xfrm>
            <a:custGeom>
              <a:avLst/>
              <a:gdLst/>
              <a:ahLst/>
              <a:cxnLst/>
              <a:rect l="l" t="t" r="r" b="b"/>
              <a:pathLst>
                <a:path w="237744" h="237744">
                  <a:moveTo>
                    <a:pt x="0" y="0"/>
                  </a:moveTo>
                  <a:lnTo>
                    <a:pt x="0" y="237744"/>
                  </a:lnTo>
                  <a:lnTo>
                    <a:pt x="237744" y="118872"/>
                  </a:lnTo>
                  <a:close/>
                </a:path>
              </a:pathLst>
            </a:custGeom>
            <a:solidFill>
              <a:srgbClr val="35C4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6" name="Connector 45"/>
            <p:cNvCxnSpPr/>
            <p:nvPr/>
          </p:nvCxnSpPr>
          <p:spPr>
            <a:xfrm>
              <a:off x="6272784" y="4224528"/>
              <a:ext cx="0" cy="237744"/>
            </a:xfrm>
            <a:prstGeom prst="line">
              <a:avLst/>
            </a:prstGeom>
            <a:ln w="25400">
              <a:solidFill>
                <a:srgbClr val="B9B3D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6272784" y="4343400"/>
              <a:ext cx="402336" cy="0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47"/>
            <p:cNvCxnSpPr/>
            <p:nvPr/>
          </p:nvCxnSpPr>
          <p:spPr>
            <a:xfrm>
              <a:off x="4709160" y="4800600"/>
              <a:ext cx="320040" cy="0"/>
            </a:xfrm>
            <a:prstGeom prst="line">
              <a:avLst/>
            </a:prstGeom>
            <a:ln w="22225">
              <a:solidFill>
                <a:srgbClr val="B9B3D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Freeform 48"/>
            <p:cNvSpPr/>
            <p:nvPr/>
          </p:nvSpPr>
          <p:spPr>
            <a:xfrm>
              <a:off x="5029200" y="4718304"/>
              <a:ext cx="640080" cy="164592"/>
            </a:xfrm>
            <a:custGeom>
              <a:avLst/>
              <a:gdLst/>
              <a:ahLst/>
              <a:cxnLst/>
              <a:rect l="l" t="t" r="r" b="b"/>
              <a:pathLst>
                <a:path w="640080" h="164592">
                  <a:moveTo>
                    <a:pt x="0" y="82296"/>
                  </a:moveTo>
                  <a:lnTo>
                    <a:pt x="45720" y="164592"/>
                  </a:lnTo>
                  <a:lnTo>
                    <a:pt x="137159" y="0"/>
                  </a:lnTo>
                  <a:lnTo>
                    <a:pt x="228600" y="164592"/>
                  </a:lnTo>
                  <a:lnTo>
                    <a:pt x="320040" y="0"/>
                  </a:lnTo>
                  <a:lnTo>
                    <a:pt x="411480" y="164592"/>
                  </a:lnTo>
                  <a:lnTo>
                    <a:pt x="502920" y="0"/>
                  </a:lnTo>
                  <a:lnTo>
                    <a:pt x="594360" y="82296"/>
                  </a:lnTo>
                  <a:lnTo>
                    <a:pt x="640080" y="82296"/>
                  </a:lnTo>
                </a:path>
              </a:pathLst>
            </a:custGeom>
            <a:noFill/>
            <a:ln w="22225">
              <a:solidFill>
                <a:srgbClr val="B9B3D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983480" y="4434840"/>
              <a:ext cx="73152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600" b="0" i="0">
                  <a:solidFill>
                    <a:srgbClr val="B9B3D1"/>
                  </a:solidFill>
                  <a:latin typeface="Calibri"/>
                </a:rPr>
                <a:t>100 Ω</a:t>
              </a:r>
            </a:p>
          </p:txBody>
        </p:sp>
        <p:cxnSp>
          <p:nvCxnSpPr>
            <p:cNvPr id="51" name="Connector 50"/>
            <p:cNvCxnSpPr/>
            <p:nvPr/>
          </p:nvCxnSpPr>
          <p:spPr>
            <a:xfrm>
              <a:off x="5669280" y="4800600"/>
              <a:ext cx="365760" cy="0"/>
            </a:xfrm>
            <a:prstGeom prst="line">
              <a:avLst/>
            </a:prstGeom>
            <a:ln w="22225">
              <a:solidFill>
                <a:srgbClr val="B9B3D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Freeform 51"/>
            <p:cNvSpPr/>
            <p:nvPr/>
          </p:nvSpPr>
          <p:spPr>
            <a:xfrm>
              <a:off x="6035040" y="4681728"/>
              <a:ext cx="237744" cy="237744"/>
            </a:xfrm>
            <a:custGeom>
              <a:avLst/>
              <a:gdLst/>
              <a:ahLst/>
              <a:cxnLst/>
              <a:rect l="l" t="t" r="r" b="b"/>
              <a:pathLst>
                <a:path w="237744" h="237744">
                  <a:moveTo>
                    <a:pt x="0" y="0"/>
                  </a:moveTo>
                  <a:lnTo>
                    <a:pt x="0" y="237744"/>
                  </a:lnTo>
                  <a:lnTo>
                    <a:pt x="237744" y="118872"/>
                  </a:lnTo>
                  <a:close/>
                </a:path>
              </a:pathLst>
            </a:custGeom>
            <a:solidFill>
              <a:srgbClr val="4D7C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3" name="Connector 52"/>
            <p:cNvCxnSpPr/>
            <p:nvPr/>
          </p:nvCxnSpPr>
          <p:spPr>
            <a:xfrm>
              <a:off x="6272784" y="4681728"/>
              <a:ext cx="0" cy="237744"/>
            </a:xfrm>
            <a:prstGeom prst="line">
              <a:avLst/>
            </a:prstGeom>
            <a:ln w="25400">
              <a:solidFill>
                <a:srgbClr val="B9B3D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>
              <a:off x="6272784" y="4800600"/>
              <a:ext cx="402336" cy="0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54"/>
            <p:cNvCxnSpPr/>
            <p:nvPr/>
          </p:nvCxnSpPr>
          <p:spPr>
            <a:xfrm>
              <a:off x="6675120" y="3886200"/>
              <a:ext cx="0" cy="1097280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5"/>
            <p:cNvCxnSpPr/>
            <p:nvPr/>
          </p:nvCxnSpPr>
          <p:spPr>
            <a:xfrm>
              <a:off x="6675120" y="4983480"/>
              <a:ext cx="0" cy="128016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>
              <a:off x="6537959" y="5111496"/>
              <a:ext cx="274321" cy="0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>
              <a:off x="6583680" y="5166359"/>
              <a:ext cx="182879" cy="0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>
              <a:off x="6629400" y="5221224"/>
              <a:ext cx="91440" cy="0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6812280" y="4069079"/>
              <a:ext cx="146304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800" b="1" i="0">
                  <a:solidFill>
                    <a:srgbClr val="F4F1EA"/>
                  </a:solidFill>
                  <a:latin typeface="Calibri"/>
                </a:rPr>
                <a:t>RGB LED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812280" y="4361688"/>
              <a:ext cx="146304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600" b="0" i="0">
                  <a:solidFill>
                    <a:srgbClr val="B9B3D1"/>
                  </a:solidFill>
                  <a:latin typeface="Calibri"/>
                </a:rPr>
                <a:t>common cathode</a:t>
              </a:r>
            </a:p>
          </p:txBody>
        </p:sp>
        <p:cxnSp>
          <p:nvCxnSpPr>
            <p:cNvPr id="62" name="Connector 61"/>
            <p:cNvCxnSpPr/>
            <p:nvPr/>
          </p:nvCxnSpPr>
          <p:spPr>
            <a:xfrm>
              <a:off x="4709160" y="5349240"/>
              <a:ext cx="461772" cy="0"/>
            </a:xfrm>
            <a:prstGeom prst="line">
              <a:avLst/>
            </a:prstGeom>
            <a:ln w="22225">
              <a:solidFill>
                <a:srgbClr val="B9B3D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/>
            <p:cNvSpPr/>
            <p:nvPr/>
          </p:nvSpPr>
          <p:spPr>
            <a:xfrm>
              <a:off x="5170932" y="5308092"/>
              <a:ext cx="82296" cy="82296"/>
            </a:xfrm>
            <a:prstGeom prst="ellipse">
              <a:avLst/>
            </a:prstGeom>
            <a:solidFill>
              <a:srgbClr val="120F2A"/>
            </a:solidFill>
            <a:ln w="19050">
              <a:solidFill>
                <a:srgbClr val="B9B3D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5536692" y="5308092"/>
              <a:ext cx="82296" cy="82296"/>
            </a:xfrm>
            <a:prstGeom prst="ellipse">
              <a:avLst/>
            </a:prstGeom>
            <a:solidFill>
              <a:srgbClr val="120F2A"/>
            </a:solidFill>
            <a:ln w="19050">
              <a:solidFill>
                <a:srgbClr val="B9B3D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5" name="Connector 64"/>
            <p:cNvCxnSpPr/>
            <p:nvPr/>
          </p:nvCxnSpPr>
          <p:spPr>
            <a:xfrm>
              <a:off x="5138928" y="5193792"/>
              <a:ext cx="512064" cy="0"/>
            </a:xfrm>
            <a:prstGeom prst="line">
              <a:avLst/>
            </a:prstGeom>
            <a:ln w="25400">
              <a:solidFill>
                <a:srgbClr val="B9B3D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or 65"/>
            <p:cNvCxnSpPr/>
            <p:nvPr/>
          </p:nvCxnSpPr>
          <p:spPr>
            <a:xfrm flipV="1">
              <a:off x="5394960" y="5065776"/>
              <a:ext cx="0" cy="128016"/>
            </a:xfrm>
            <a:prstGeom prst="line">
              <a:avLst/>
            </a:prstGeom>
            <a:ln w="25400">
              <a:solidFill>
                <a:srgbClr val="B9B3D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 66"/>
            <p:cNvCxnSpPr/>
            <p:nvPr/>
          </p:nvCxnSpPr>
          <p:spPr>
            <a:xfrm>
              <a:off x="5618988" y="5349240"/>
              <a:ext cx="461772" cy="0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or 67"/>
            <p:cNvCxnSpPr/>
            <p:nvPr/>
          </p:nvCxnSpPr>
          <p:spPr>
            <a:xfrm>
              <a:off x="6080760" y="5349240"/>
              <a:ext cx="0" cy="128015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 68"/>
            <p:cNvCxnSpPr/>
            <p:nvPr/>
          </p:nvCxnSpPr>
          <p:spPr>
            <a:xfrm>
              <a:off x="5943600" y="5477255"/>
              <a:ext cx="274320" cy="0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>
              <a:off x="5989320" y="5532119"/>
              <a:ext cx="182880" cy="0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>
              <a:off x="6035040" y="5586983"/>
              <a:ext cx="91440" cy="0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6903720" y="5212079"/>
              <a:ext cx="128016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800" b="1" i="0">
                  <a:solidFill>
                    <a:srgbClr val="F4F1EA"/>
                  </a:solidFill>
                  <a:latin typeface="Calibri"/>
                </a:rPr>
                <a:t>Cast button</a:t>
              </a:r>
            </a:p>
          </p:txBody>
        </p:sp>
        <p:sp>
          <p:nvSpPr>
            <p:cNvPr id="73" name="Freeform 72"/>
            <p:cNvSpPr/>
            <p:nvPr/>
          </p:nvSpPr>
          <p:spPr>
            <a:xfrm>
              <a:off x="1143000" y="3063240"/>
              <a:ext cx="333756" cy="594360"/>
            </a:xfrm>
            <a:custGeom>
              <a:avLst/>
              <a:gdLst/>
              <a:ahLst/>
              <a:cxnLst/>
              <a:rect l="l" t="t" r="r" b="b"/>
              <a:pathLst>
                <a:path w="333756" h="594360">
                  <a:moveTo>
                    <a:pt x="0" y="594360"/>
                  </a:moveTo>
                  <a:lnTo>
                    <a:pt x="0" y="0"/>
                  </a:lnTo>
                  <a:lnTo>
                    <a:pt x="333756" y="0"/>
                  </a:lnTo>
                </a:path>
              </a:pathLst>
            </a:custGeom>
            <a:noFill/>
            <a:ln w="22225">
              <a:solidFill>
                <a:srgbClr val="FF8A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1476756" y="3022092"/>
              <a:ext cx="82296" cy="82296"/>
            </a:xfrm>
            <a:prstGeom prst="ellipse">
              <a:avLst/>
            </a:prstGeom>
            <a:solidFill>
              <a:srgbClr val="120F2A"/>
            </a:solidFill>
            <a:ln w="19050">
              <a:solidFill>
                <a:srgbClr val="FF8A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1915668" y="3022092"/>
              <a:ext cx="82296" cy="82296"/>
            </a:xfrm>
            <a:prstGeom prst="ellipse">
              <a:avLst/>
            </a:prstGeom>
            <a:solidFill>
              <a:srgbClr val="120F2A"/>
            </a:solidFill>
            <a:ln w="19050">
              <a:solidFill>
                <a:srgbClr val="FF8A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6" name="Connector 75"/>
            <p:cNvCxnSpPr/>
            <p:nvPr/>
          </p:nvCxnSpPr>
          <p:spPr>
            <a:xfrm flipV="1">
              <a:off x="1545336" y="2862072"/>
              <a:ext cx="374904" cy="173736"/>
            </a:xfrm>
            <a:prstGeom prst="line">
              <a:avLst/>
            </a:prstGeom>
            <a:ln w="25400">
              <a:solidFill>
                <a:srgbClr val="FF8A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 76"/>
            <p:cNvCxnSpPr/>
            <p:nvPr/>
          </p:nvCxnSpPr>
          <p:spPr>
            <a:xfrm>
              <a:off x="1997964" y="3063240"/>
              <a:ext cx="516636" cy="0"/>
            </a:xfrm>
            <a:prstGeom prst="line">
              <a:avLst/>
            </a:prstGeom>
            <a:ln w="22225">
              <a:solidFill>
                <a:srgbClr val="FF8A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>
              <a:off x="950976" y="3657600"/>
              <a:ext cx="384048" cy="0"/>
            </a:xfrm>
            <a:prstGeom prst="line">
              <a:avLst/>
            </a:prstGeom>
            <a:ln w="31750">
              <a:solidFill>
                <a:srgbClr val="F4F1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>
              <a:off x="1033271" y="3767328"/>
              <a:ext cx="219457" cy="0"/>
            </a:xfrm>
            <a:prstGeom prst="line">
              <a:avLst/>
            </a:prstGeom>
            <a:ln w="31750">
              <a:solidFill>
                <a:srgbClr val="F4F1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/>
            <p:nvPr/>
          </p:nvCxnSpPr>
          <p:spPr>
            <a:xfrm>
              <a:off x="950976" y="3913632"/>
              <a:ext cx="384048" cy="0"/>
            </a:xfrm>
            <a:prstGeom prst="line">
              <a:avLst/>
            </a:prstGeom>
            <a:ln w="31750">
              <a:solidFill>
                <a:srgbClr val="F4F1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1033271" y="4023360"/>
              <a:ext cx="219457" cy="0"/>
            </a:xfrm>
            <a:prstGeom prst="line">
              <a:avLst/>
            </a:prstGeom>
            <a:ln w="31750">
              <a:solidFill>
                <a:srgbClr val="F4F1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640080" y="3474720"/>
              <a:ext cx="27432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 i="0">
                  <a:solidFill>
                    <a:srgbClr val="FF8A70"/>
                  </a:solidFill>
                  <a:latin typeface="Calibri"/>
                </a:rPr>
                <a:t>+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640080" y="3931920"/>
              <a:ext cx="27432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 i="0">
                  <a:solidFill>
                    <a:srgbClr val="8C86AD"/>
                  </a:solidFill>
                  <a:latin typeface="Calibri"/>
                </a:rPr>
                <a:t>−</a:t>
              </a:r>
            </a:p>
          </p:txBody>
        </p:sp>
        <p:sp>
          <p:nvSpPr>
            <p:cNvPr id="84" name="Freeform 83"/>
            <p:cNvSpPr/>
            <p:nvPr/>
          </p:nvSpPr>
          <p:spPr>
            <a:xfrm>
              <a:off x="1143000" y="4023360"/>
              <a:ext cx="1371600" cy="1005840"/>
            </a:xfrm>
            <a:custGeom>
              <a:avLst/>
              <a:gdLst/>
              <a:ahLst/>
              <a:cxnLst/>
              <a:rect l="l" t="t" r="r" b="b"/>
              <a:pathLst>
                <a:path w="1371600" h="1005840">
                  <a:moveTo>
                    <a:pt x="0" y="0"/>
                  </a:moveTo>
                  <a:lnTo>
                    <a:pt x="0" y="1005840"/>
                  </a:lnTo>
                  <a:lnTo>
                    <a:pt x="1371600" y="1005840"/>
                  </a:lnTo>
                </a:path>
              </a:pathLst>
            </a:custGeom>
            <a:noFill/>
            <a:ln w="22225">
              <a:solidFill>
                <a:srgbClr val="8C86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5" name="Connector 84"/>
            <p:cNvCxnSpPr/>
            <p:nvPr/>
          </p:nvCxnSpPr>
          <p:spPr>
            <a:xfrm>
              <a:off x="1143000" y="5029200"/>
              <a:ext cx="0" cy="128016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 85"/>
            <p:cNvCxnSpPr/>
            <p:nvPr/>
          </p:nvCxnSpPr>
          <p:spPr>
            <a:xfrm>
              <a:off x="1005840" y="5157216"/>
              <a:ext cx="274320" cy="0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 86"/>
            <p:cNvCxnSpPr/>
            <p:nvPr/>
          </p:nvCxnSpPr>
          <p:spPr>
            <a:xfrm>
              <a:off x="1051560" y="5212079"/>
              <a:ext cx="182880" cy="0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>
              <a:off x="1097280" y="5266944"/>
              <a:ext cx="91440" cy="0"/>
            </a:xfrm>
            <a:prstGeom prst="line">
              <a:avLst/>
            </a:prstGeom>
            <a:ln w="22225">
              <a:solidFill>
                <a:srgbClr val="8C8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/>
            <p:cNvSpPr txBox="1"/>
            <p:nvPr/>
          </p:nvSpPr>
          <p:spPr>
            <a:xfrm>
              <a:off x="1463040" y="3566160"/>
              <a:ext cx="100584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800" b="1" i="0">
                  <a:solidFill>
                    <a:srgbClr val="F4F1EA"/>
                  </a:solidFill>
                  <a:latin typeface="Calibri"/>
                </a:rPr>
                <a:t>4 × AAA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463040" y="3886200"/>
              <a:ext cx="100584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600" b="0" i="0">
                  <a:solidFill>
                    <a:srgbClr val="B9B3D1"/>
                  </a:solidFill>
                  <a:latin typeface="Calibri"/>
                </a:rPr>
                <a:t>≈ 6 V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097280" y="2514600"/>
              <a:ext cx="13258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600" b="0" i="0">
                  <a:solidFill>
                    <a:srgbClr val="B9B3D1"/>
                  </a:solidFill>
                  <a:latin typeface="Calibri"/>
                </a:rPr>
                <a:t>On/off switch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